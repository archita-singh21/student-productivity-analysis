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A5F"/>
    <a:srgbClr val="EAF2F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DF7863-0DB3-47C4-910A-B54884E16F25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E454DD66-7FDA-441B-A4BC-4101260730E4}">
      <dgm:prSet phldrT="[Text]" phldr="0" custT="1"/>
      <dgm:spPr/>
      <dgm:t>
        <a:bodyPr/>
        <a:lstStyle/>
        <a:p>
          <a:pPr algn="ctr"/>
          <a:br>
            <a: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Academic </a:t>
          </a:r>
        </a:p>
        <a:p>
          <a:pPr algn="ctr"/>
          <a:r>
            <a: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Excellence</a:t>
          </a:r>
        </a:p>
      </dgm:t>
    </dgm:pt>
    <dgm:pt modelId="{EE4BD388-109D-4C18-9320-5B59F922DDB1}" type="parTrans" cxnId="{286E073D-57CA-4661-AD73-E00ABEFF3B68}">
      <dgm:prSet/>
      <dgm:spPr/>
      <dgm:t>
        <a:bodyPr/>
        <a:lstStyle/>
        <a:p>
          <a:endParaRPr lang="en-US"/>
        </a:p>
      </dgm:t>
    </dgm:pt>
    <dgm:pt modelId="{D9310171-CAA5-472E-BADE-A7084D6BFB7F}" type="sibTrans" cxnId="{286E073D-57CA-4661-AD73-E00ABEFF3B68}">
      <dgm:prSet/>
      <dgm:spPr/>
      <dgm:t>
        <a:bodyPr/>
        <a:lstStyle/>
        <a:p>
          <a:endParaRPr lang="en-US"/>
        </a:p>
      </dgm:t>
    </dgm:pt>
    <dgm:pt modelId="{BF281D2B-3C99-42C0-B52C-D724091B44FD}">
      <dgm:prSet phldrT="[Text]" phldr="0"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Structured Study Schedule, Improve Attendance</a:t>
          </a:r>
        </a:p>
      </dgm:t>
    </dgm:pt>
    <dgm:pt modelId="{72AC5F77-F7BF-4E39-9D7D-BE81FD93D36A}" type="parTrans" cxnId="{57E73E0B-21C2-41B0-8029-3962F4A36A49}">
      <dgm:prSet/>
      <dgm:spPr/>
      <dgm:t>
        <a:bodyPr/>
        <a:lstStyle/>
        <a:p>
          <a:endParaRPr lang="en-US"/>
        </a:p>
      </dgm:t>
    </dgm:pt>
    <dgm:pt modelId="{7FF9AC82-222B-4FBF-9C4A-B5958EC8A480}" type="sibTrans" cxnId="{57E73E0B-21C2-41B0-8029-3962F4A36A49}">
      <dgm:prSet/>
      <dgm:spPr/>
      <dgm:t>
        <a:bodyPr/>
        <a:lstStyle/>
        <a:p>
          <a:endParaRPr lang="en-US"/>
        </a:p>
      </dgm:t>
    </dgm:pt>
    <dgm:pt modelId="{8B5D378E-E466-4B4A-868B-F84DE9F2F484}">
      <dgm:prSet phldrT="[Text]" phldr="0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Sleep Management ,  Stress Management , Digital Wellness</a:t>
          </a:r>
        </a:p>
      </dgm:t>
    </dgm:pt>
    <dgm:pt modelId="{EFD13D85-1CF4-47E9-8390-3E8525D3B70F}" type="parTrans" cxnId="{2F313745-2003-4590-B257-1CF2500CF2D2}">
      <dgm:prSet/>
      <dgm:spPr/>
      <dgm:t>
        <a:bodyPr/>
        <a:lstStyle/>
        <a:p>
          <a:endParaRPr lang="en-US"/>
        </a:p>
      </dgm:t>
    </dgm:pt>
    <dgm:pt modelId="{AD24AF0A-77F1-4376-B48B-B50A0CC2816F}" type="sibTrans" cxnId="{2F313745-2003-4590-B257-1CF2500CF2D2}">
      <dgm:prSet/>
      <dgm:spPr/>
      <dgm:t>
        <a:bodyPr/>
        <a:lstStyle/>
        <a:p>
          <a:endParaRPr lang="en-US"/>
        </a:p>
      </dgm:t>
    </dgm:pt>
    <dgm:pt modelId="{4EE19211-3491-46A1-892F-64B3003C26B9}" type="pres">
      <dgm:prSet presAssocID="{CEDF7863-0DB3-47C4-910A-B54884E16F25}" presName="Name0" presStyleCnt="0">
        <dgm:presLayoutVars>
          <dgm:dir/>
          <dgm:animLvl val="lvl"/>
          <dgm:resizeHandles val="exact"/>
        </dgm:presLayoutVars>
      </dgm:prSet>
      <dgm:spPr/>
    </dgm:pt>
    <dgm:pt modelId="{3DD615C2-8B47-4A90-B974-E2FE405ACE1F}" type="pres">
      <dgm:prSet presAssocID="{E454DD66-7FDA-441B-A4BC-4101260730E4}" presName="Name8" presStyleCnt="0"/>
      <dgm:spPr/>
    </dgm:pt>
    <dgm:pt modelId="{14E4F426-72C2-419F-85E9-39793476EBE7}" type="pres">
      <dgm:prSet presAssocID="{E454DD66-7FDA-441B-A4BC-4101260730E4}" presName="level" presStyleLbl="node1" presStyleIdx="0" presStyleCnt="3">
        <dgm:presLayoutVars>
          <dgm:chMax val="1"/>
          <dgm:bulletEnabled val="1"/>
        </dgm:presLayoutVars>
      </dgm:prSet>
      <dgm:spPr/>
    </dgm:pt>
    <dgm:pt modelId="{C085BE03-1835-46EF-840C-D8E4BFD9AB75}" type="pres">
      <dgm:prSet presAssocID="{E454DD66-7FDA-441B-A4BC-4101260730E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7F26FA9-CE77-4849-86B5-BC879CBA24F8}" type="pres">
      <dgm:prSet presAssocID="{BF281D2B-3C99-42C0-B52C-D724091B44FD}" presName="Name8" presStyleCnt="0"/>
      <dgm:spPr/>
    </dgm:pt>
    <dgm:pt modelId="{756FF68D-4D8F-4CBC-A9F3-37013441F778}" type="pres">
      <dgm:prSet presAssocID="{BF281D2B-3C99-42C0-B52C-D724091B44FD}" presName="level" presStyleLbl="node1" presStyleIdx="1" presStyleCnt="3">
        <dgm:presLayoutVars>
          <dgm:chMax val="1"/>
          <dgm:bulletEnabled val="1"/>
        </dgm:presLayoutVars>
      </dgm:prSet>
      <dgm:spPr/>
    </dgm:pt>
    <dgm:pt modelId="{E37E3325-D337-4ECB-B40D-7BF7AAFA8378}" type="pres">
      <dgm:prSet presAssocID="{BF281D2B-3C99-42C0-B52C-D724091B44F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10E0914-1566-41FC-B0B6-09883811826D}" type="pres">
      <dgm:prSet presAssocID="{8B5D378E-E466-4B4A-868B-F84DE9F2F484}" presName="Name8" presStyleCnt="0"/>
      <dgm:spPr/>
    </dgm:pt>
    <dgm:pt modelId="{4B9DA0FE-755E-4EFE-A70B-50C577FACC2D}" type="pres">
      <dgm:prSet presAssocID="{8B5D378E-E466-4B4A-868B-F84DE9F2F484}" presName="level" presStyleLbl="node1" presStyleIdx="2" presStyleCnt="3">
        <dgm:presLayoutVars>
          <dgm:chMax val="1"/>
          <dgm:bulletEnabled val="1"/>
        </dgm:presLayoutVars>
      </dgm:prSet>
      <dgm:spPr/>
    </dgm:pt>
    <dgm:pt modelId="{534DFECF-4C52-4510-9B70-7102A19794B5}" type="pres">
      <dgm:prSet presAssocID="{8B5D378E-E466-4B4A-868B-F84DE9F2F48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661F002-D8C6-4447-BCC2-9AA0DE5E8215}" type="presOf" srcId="{CEDF7863-0DB3-47C4-910A-B54884E16F25}" destId="{4EE19211-3491-46A1-892F-64B3003C26B9}" srcOrd="0" destOrd="0" presId="urn:microsoft.com/office/officeart/2005/8/layout/pyramid1"/>
    <dgm:cxn modelId="{78415A04-8832-482A-8F23-E539B1E6498A}" type="presOf" srcId="{BF281D2B-3C99-42C0-B52C-D724091B44FD}" destId="{E37E3325-D337-4ECB-B40D-7BF7AAFA8378}" srcOrd="1" destOrd="0" presId="urn:microsoft.com/office/officeart/2005/8/layout/pyramid1"/>
    <dgm:cxn modelId="{57E73E0B-21C2-41B0-8029-3962F4A36A49}" srcId="{CEDF7863-0DB3-47C4-910A-B54884E16F25}" destId="{BF281D2B-3C99-42C0-B52C-D724091B44FD}" srcOrd="1" destOrd="0" parTransId="{72AC5F77-F7BF-4E39-9D7D-BE81FD93D36A}" sibTransId="{7FF9AC82-222B-4FBF-9C4A-B5958EC8A480}"/>
    <dgm:cxn modelId="{286E073D-57CA-4661-AD73-E00ABEFF3B68}" srcId="{CEDF7863-0DB3-47C4-910A-B54884E16F25}" destId="{E454DD66-7FDA-441B-A4BC-4101260730E4}" srcOrd="0" destOrd="0" parTransId="{EE4BD388-109D-4C18-9320-5B59F922DDB1}" sibTransId="{D9310171-CAA5-472E-BADE-A7084D6BFB7F}"/>
    <dgm:cxn modelId="{A112FC41-D8FD-49CF-B368-08E17C3F07A3}" type="presOf" srcId="{BF281D2B-3C99-42C0-B52C-D724091B44FD}" destId="{756FF68D-4D8F-4CBC-A9F3-37013441F778}" srcOrd="0" destOrd="0" presId="urn:microsoft.com/office/officeart/2005/8/layout/pyramid1"/>
    <dgm:cxn modelId="{2F313745-2003-4590-B257-1CF2500CF2D2}" srcId="{CEDF7863-0DB3-47C4-910A-B54884E16F25}" destId="{8B5D378E-E466-4B4A-868B-F84DE9F2F484}" srcOrd="2" destOrd="0" parTransId="{EFD13D85-1CF4-47E9-8390-3E8525D3B70F}" sibTransId="{AD24AF0A-77F1-4376-B48B-B50A0CC2816F}"/>
    <dgm:cxn modelId="{A2ABBA8B-E46E-46BF-BB0C-CC7CFBB07250}" type="presOf" srcId="{E454DD66-7FDA-441B-A4BC-4101260730E4}" destId="{14E4F426-72C2-419F-85E9-39793476EBE7}" srcOrd="0" destOrd="0" presId="urn:microsoft.com/office/officeart/2005/8/layout/pyramid1"/>
    <dgm:cxn modelId="{3C2537AA-CE10-45CC-A80D-B62561423438}" type="presOf" srcId="{8B5D378E-E466-4B4A-868B-F84DE9F2F484}" destId="{4B9DA0FE-755E-4EFE-A70B-50C577FACC2D}" srcOrd="0" destOrd="0" presId="urn:microsoft.com/office/officeart/2005/8/layout/pyramid1"/>
    <dgm:cxn modelId="{AD74A1F1-9290-4BAF-A58B-B3D86952C426}" type="presOf" srcId="{8B5D378E-E466-4B4A-868B-F84DE9F2F484}" destId="{534DFECF-4C52-4510-9B70-7102A19794B5}" srcOrd="1" destOrd="0" presId="urn:microsoft.com/office/officeart/2005/8/layout/pyramid1"/>
    <dgm:cxn modelId="{47D2EAF9-5BEA-421E-BA6B-013468D92875}" type="presOf" srcId="{E454DD66-7FDA-441B-A4BC-4101260730E4}" destId="{C085BE03-1835-46EF-840C-D8E4BFD9AB75}" srcOrd="1" destOrd="0" presId="urn:microsoft.com/office/officeart/2005/8/layout/pyramid1"/>
    <dgm:cxn modelId="{D5D32373-B820-424E-9A69-5B989EB126C2}" type="presParOf" srcId="{4EE19211-3491-46A1-892F-64B3003C26B9}" destId="{3DD615C2-8B47-4A90-B974-E2FE405ACE1F}" srcOrd="0" destOrd="0" presId="urn:microsoft.com/office/officeart/2005/8/layout/pyramid1"/>
    <dgm:cxn modelId="{ACD05114-6983-459D-AAFF-9AF606DEE8CC}" type="presParOf" srcId="{3DD615C2-8B47-4A90-B974-E2FE405ACE1F}" destId="{14E4F426-72C2-419F-85E9-39793476EBE7}" srcOrd="0" destOrd="0" presId="urn:microsoft.com/office/officeart/2005/8/layout/pyramid1"/>
    <dgm:cxn modelId="{DEEEAC8D-D79A-442B-A8F7-E810BC8394C3}" type="presParOf" srcId="{3DD615C2-8B47-4A90-B974-E2FE405ACE1F}" destId="{C085BE03-1835-46EF-840C-D8E4BFD9AB75}" srcOrd="1" destOrd="0" presId="urn:microsoft.com/office/officeart/2005/8/layout/pyramid1"/>
    <dgm:cxn modelId="{2B5781E0-6B2F-4BEE-8267-FFFA9A2DB25A}" type="presParOf" srcId="{4EE19211-3491-46A1-892F-64B3003C26B9}" destId="{97F26FA9-CE77-4849-86B5-BC879CBA24F8}" srcOrd="1" destOrd="0" presId="urn:microsoft.com/office/officeart/2005/8/layout/pyramid1"/>
    <dgm:cxn modelId="{FF3D6073-943F-451C-9CD7-C4FE1B7FC137}" type="presParOf" srcId="{97F26FA9-CE77-4849-86B5-BC879CBA24F8}" destId="{756FF68D-4D8F-4CBC-A9F3-37013441F778}" srcOrd="0" destOrd="0" presId="urn:microsoft.com/office/officeart/2005/8/layout/pyramid1"/>
    <dgm:cxn modelId="{12D0A1B0-2854-4EEB-8D16-BE15C5677B07}" type="presParOf" srcId="{97F26FA9-CE77-4849-86B5-BC879CBA24F8}" destId="{E37E3325-D337-4ECB-B40D-7BF7AAFA8378}" srcOrd="1" destOrd="0" presId="urn:microsoft.com/office/officeart/2005/8/layout/pyramid1"/>
    <dgm:cxn modelId="{0F4A754F-EF9F-4F3E-B23C-C96C750BAD8E}" type="presParOf" srcId="{4EE19211-3491-46A1-892F-64B3003C26B9}" destId="{C10E0914-1566-41FC-B0B6-09883811826D}" srcOrd="2" destOrd="0" presId="urn:microsoft.com/office/officeart/2005/8/layout/pyramid1"/>
    <dgm:cxn modelId="{06C9FDFD-2B9F-4BE5-B0E3-88ECF09C12A0}" type="presParOf" srcId="{C10E0914-1566-41FC-B0B6-09883811826D}" destId="{4B9DA0FE-755E-4EFE-A70B-50C577FACC2D}" srcOrd="0" destOrd="0" presId="urn:microsoft.com/office/officeart/2005/8/layout/pyramid1"/>
    <dgm:cxn modelId="{D43434B1-EA08-4464-8789-56B713CA228A}" type="presParOf" srcId="{C10E0914-1566-41FC-B0B6-09883811826D}" destId="{534DFECF-4C52-4510-9B70-7102A19794B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4F426-72C2-419F-85E9-39793476EBE7}">
      <dsp:nvSpPr>
        <dsp:cNvPr id="0" name=""/>
        <dsp:cNvSpPr/>
      </dsp:nvSpPr>
      <dsp:spPr>
        <a:xfrm>
          <a:off x="1955195" y="0"/>
          <a:ext cx="1955195" cy="1266370"/>
        </a:xfrm>
        <a:prstGeom prst="trapezoid">
          <a:avLst>
            <a:gd name="adj" fmla="val 77197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n-US" sz="1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sz="1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Academic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Excellence</a:t>
          </a:r>
        </a:p>
      </dsp:txBody>
      <dsp:txXfrm>
        <a:off x="1955195" y="0"/>
        <a:ext cx="1955195" cy="1266370"/>
      </dsp:txXfrm>
    </dsp:sp>
    <dsp:sp modelId="{756FF68D-4D8F-4CBC-A9F3-37013441F778}">
      <dsp:nvSpPr>
        <dsp:cNvPr id="0" name=""/>
        <dsp:cNvSpPr/>
      </dsp:nvSpPr>
      <dsp:spPr>
        <a:xfrm>
          <a:off x="977597" y="1266370"/>
          <a:ext cx="3910391" cy="1266370"/>
        </a:xfrm>
        <a:prstGeom prst="trapezoid">
          <a:avLst>
            <a:gd name="adj" fmla="val 77197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Structured Study Schedule, Improve Attendance</a:t>
          </a:r>
        </a:p>
      </dsp:txBody>
      <dsp:txXfrm>
        <a:off x="1661916" y="1266370"/>
        <a:ext cx="2541754" cy="1266370"/>
      </dsp:txXfrm>
    </dsp:sp>
    <dsp:sp modelId="{4B9DA0FE-755E-4EFE-A70B-50C577FACC2D}">
      <dsp:nvSpPr>
        <dsp:cNvPr id="0" name=""/>
        <dsp:cNvSpPr/>
      </dsp:nvSpPr>
      <dsp:spPr>
        <a:xfrm>
          <a:off x="0" y="2532741"/>
          <a:ext cx="5865586" cy="1266370"/>
        </a:xfrm>
        <a:prstGeom prst="trapezoid">
          <a:avLst>
            <a:gd name="adj" fmla="val 77197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Sleep Management ,  Stress Management , Digital Wellness</a:t>
          </a:r>
        </a:p>
      </dsp:txBody>
      <dsp:txXfrm>
        <a:off x="1026477" y="2532741"/>
        <a:ext cx="3812631" cy="1266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3E06-CD80-12BB-4860-9391C3017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2600" b="1">
                <a:solidFill>
                  <a:srgbClr val="163A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85EDF-DD03-19CF-B622-6CC6E49CF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A7774-8DAA-563B-587F-10CB7534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4DAC0-3A90-3951-F735-23C13B5E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576A-B987-107D-FE4E-5F9475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2356" y="6356350"/>
            <a:ext cx="1941443" cy="365125"/>
          </a:xfrm>
        </p:spPr>
        <p:txBody>
          <a:bodyPr/>
          <a:lstStyle>
            <a:lvl1pPr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Archita Singh | IIT (ISM) Dhanbad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D43DB2-2DA0-8EF9-6FAD-E17DCC0B000A}"/>
              </a:ext>
            </a:extLst>
          </p:cNvPr>
          <p:cNvSpPr/>
          <p:nvPr userDrawn="1"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63A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178382-3B3D-E376-78EE-5E25CAC1FBF1}"/>
              </a:ext>
            </a:extLst>
          </p:cNvPr>
          <p:cNvSpPr txBox="1"/>
          <p:nvPr userDrawn="1"/>
        </p:nvSpPr>
        <p:spPr>
          <a:xfrm>
            <a:off x="5047421" y="67240"/>
            <a:ext cx="2097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Productivity Analytics</a:t>
            </a:r>
          </a:p>
        </p:txBody>
      </p:sp>
    </p:spTree>
    <p:extLst>
      <p:ext uri="{BB962C8B-B14F-4D97-AF65-F5344CB8AC3E}">
        <p14:creationId xmlns:p14="http://schemas.microsoft.com/office/powerpoint/2010/main" val="101230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46DB-D4DE-1A28-9080-C8819AFF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3464A-6B14-1692-DF77-A879DE35B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11B7-1B38-CD5D-5D34-DA4020BD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E77BE-12A4-1476-A8E6-9ACFC274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1CD3-191A-FD45-5194-8DF27798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8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1603-AF54-EFB0-6B08-323EEE81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F8BD4-DAFA-5674-FBA0-1D587C82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CE628-0D65-A131-7FAB-943CD6DA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6BC6B-85C0-A22D-64A3-58C026C7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96C6-10CF-ED39-056E-0B6DBD78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6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A7E5-8185-0620-73FF-0EAC13A2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43B5-22E3-71B7-356F-7F8AEA847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70832-B2ED-C021-3012-3F2500AFE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E5BA5-9C1E-0CBF-7CDE-C781C5CC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03AFC-9608-C5FF-7245-738F9F7C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0FEE9-4CE2-C94F-869F-A8790337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4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C982-A714-57A0-CA7E-7D56643B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6851-5B13-A30C-F029-DA9462ADC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57C17-2BBA-868D-8313-0F5EADF75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CEFC3-CD14-CD0F-912E-AF5A49108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3CC11-2FB8-9C75-C153-8710C8FC7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91791-00BE-AFD9-49D3-43AE0C53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6CEB2-4CE5-A9FB-7AD3-A2ED7255E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29501-699A-5E9A-6564-364568F9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6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433-97B1-4C61-8F31-17BBECC3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3BAFF-3A68-61EB-C436-D34AA61E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6FD32-342E-E624-9D11-DF7B216C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46183-9036-59E6-BE57-67C04C65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4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5F757-3E80-6231-8D0B-7DE96CB3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851C1-F327-AB2A-7AF6-9DDC514B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8C3AF-C084-9A1A-2D14-C6FF0539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5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C5FC-DBC2-AC1F-1309-D9032561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DBA6D-4200-8803-D655-764C613B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BD68E-16C2-78B7-87ED-ACB5096CE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3E028-0FC0-E734-26D3-6A81C670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260AA-DFE4-7D13-5FEE-06F98B6A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A6DBF-7010-CFAE-2D6F-EA17DF67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5696-EDD4-90CF-D6BD-A2B02497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BA284-D77B-B9C6-7BA2-D13EDD6BF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B9DAA-1BAF-593D-9E72-9DCC1FC54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DFFA5-B48A-3EC9-AC7E-D1A69B3C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B8DFA-B4C0-C81A-F9D2-6AB1D9AD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74D73-F065-5112-1DB0-934A733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6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79C5-7890-2F5C-C185-B7A117D4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E2D01-4A42-B868-63E7-E3F7AC912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829E7-A878-A16D-8741-030A30FA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E499A-C683-F3B0-9FA7-D7A9BA51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0B30B-70E8-960C-3C4E-AD97DBD2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31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90EA6-F40B-3865-3479-4B196D3A6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36DC5-4A6A-F6A6-8290-E0739860E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C69A3-916E-C2DE-2275-96998D7D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9C052-6999-BFE4-3984-4AC812F1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A16F6-049D-84A3-0D6D-E2523B03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5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0FA45-D681-5227-6838-F75FF4BD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E5E5C-6CC8-ABB5-5976-A2811D283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A154-ED30-2BBC-F725-9A60C5826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95EFB-94C2-4E25-B84F-75A31FAF12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3B05-8CD1-6DE9-67EC-BE5A0EE58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9AFC1-7290-02C3-1109-3BD62FECB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36065-FAE1-43C9-8D30-F90EFC590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9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C6645-6892-BBBB-033E-003CBE98A3C3}"/>
              </a:ext>
            </a:extLst>
          </p:cNvPr>
          <p:cNvSpPr txBox="1"/>
          <p:nvPr/>
        </p:nvSpPr>
        <p:spPr>
          <a:xfrm>
            <a:off x="253388" y="763311"/>
            <a:ext cx="6182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163A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Productivity &amp; Academic Performance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FE024-8D4B-7F6E-5340-EFF8679E0913}"/>
              </a:ext>
            </a:extLst>
          </p:cNvPr>
          <p:cNvSpPr txBox="1"/>
          <p:nvPr/>
        </p:nvSpPr>
        <p:spPr>
          <a:xfrm>
            <a:off x="253388" y="3002255"/>
            <a:ext cx="53986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Data-Driven Analysis of Factors Influencing Student Productivity and Academic Success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CE337-56C8-5BB0-B8C2-C63604027C50}"/>
              </a:ext>
            </a:extLst>
          </p:cNvPr>
          <p:cNvSpPr txBox="1"/>
          <p:nvPr/>
        </p:nvSpPr>
        <p:spPr>
          <a:xfrm>
            <a:off x="121185" y="5898464"/>
            <a:ext cx="26507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Archita Singh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Mining Engineering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IIT (ISM) Dhanbad</a:t>
            </a:r>
          </a:p>
        </p:txBody>
      </p:sp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FFC52018-123F-8BB6-63D1-293DD4153BC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7408" y="435429"/>
            <a:ext cx="6518649" cy="651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9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8E17-7BE2-77B7-06F8-5B576767A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8880" y="586442"/>
            <a:ext cx="2862943" cy="864734"/>
          </a:xfrm>
        </p:spPr>
        <p:txBody>
          <a:bodyPr>
            <a:noAutofit/>
          </a:bodyPr>
          <a:lstStyle/>
          <a:p>
            <a:r>
              <a:rPr lang="en-US" sz="3200" dirty="0"/>
              <a:t>Project Overview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DDE274-7077-E8E8-99E7-810FC48D8EC0}"/>
              </a:ext>
            </a:extLst>
          </p:cNvPr>
          <p:cNvSpPr/>
          <p:nvPr/>
        </p:nvSpPr>
        <p:spPr>
          <a:xfrm>
            <a:off x="587826" y="856816"/>
            <a:ext cx="2286000" cy="11887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478F90-08E1-BBB5-64E2-A87CF7A8A522}"/>
              </a:ext>
            </a:extLst>
          </p:cNvPr>
          <p:cNvSpPr/>
          <p:nvPr/>
        </p:nvSpPr>
        <p:spPr>
          <a:xfrm>
            <a:off x="587826" y="3731623"/>
            <a:ext cx="2286000" cy="11887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EBA0F-0758-DD4E-D981-D0A27D679A35}"/>
              </a:ext>
            </a:extLst>
          </p:cNvPr>
          <p:cNvSpPr/>
          <p:nvPr/>
        </p:nvSpPr>
        <p:spPr>
          <a:xfrm>
            <a:off x="628646" y="5192682"/>
            <a:ext cx="2286000" cy="11887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007105-4325-B9B8-05A9-E6255262E9F6}"/>
              </a:ext>
            </a:extLst>
          </p:cNvPr>
          <p:cNvSpPr/>
          <p:nvPr/>
        </p:nvSpPr>
        <p:spPr>
          <a:xfrm>
            <a:off x="587826" y="2270564"/>
            <a:ext cx="2286000" cy="11887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Bullseye with solid fill">
            <a:extLst>
              <a:ext uri="{FF2B5EF4-FFF2-40B4-BE49-F238E27FC236}">
                <a16:creationId xmlns:a16="http://schemas.microsoft.com/office/drawing/2014/main" id="{D7DCE323-6378-39E6-7F20-6C9F33563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626" y="856816"/>
            <a:ext cx="914400" cy="914400"/>
          </a:xfrm>
          <a:prstGeom prst="rect">
            <a:avLst/>
          </a:prstGeom>
        </p:spPr>
      </p:pic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723A4D-BA17-A3A7-FE46-052D2CFDA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3625" y="2270564"/>
            <a:ext cx="914400" cy="914400"/>
          </a:xfrm>
          <a:prstGeom prst="rect">
            <a:avLst/>
          </a:prstGeom>
        </p:spPr>
      </p:pic>
      <p:pic>
        <p:nvPicPr>
          <p:cNvPr id="16" name="Graphic 15" descr="Statistics with solid fill">
            <a:extLst>
              <a:ext uri="{FF2B5EF4-FFF2-40B4-BE49-F238E27FC236}">
                <a16:creationId xmlns:a16="http://schemas.microsoft.com/office/drawing/2014/main" id="{3D800103-A87C-3F62-34BE-62CD13EBB0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3625" y="3731623"/>
            <a:ext cx="914400" cy="914400"/>
          </a:xfrm>
          <a:prstGeom prst="rect">
            <a:avLst/>
          </a:prstGeom>
        </p:spPr>
      </p:pic>
      <p:pic>
        <p:nvPicPr>
          <p:cNvPr id="18" name="Graphic 17" descr="Gauge with solid fill">
            <a:extLst>
              <a:ext uri="{FF2B5EF4-FFF2-40B4-BE49-F238E27FC236}">
                <a16:creationId xmlns:a16="http://schemas.microsoft.com/office/drawing/2014/main" id="{7ED5E16B-81B8-BE18-EA8E-FEDE4DF87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3625" y="5086784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D2A34C-504A-C302-5A6C-E489119874E1}"/>
              </a:ext>
            </a:extLst>
          </p:cNvPr>
          <p:cNvSpPr txBox="1"/>
          <p:nvPr/>
        </p:nvSpPr>
        <p:spPr>
          <a:xfrm>
            <a:off x="1139125" y="1676204"/>
            <a:ext cx="118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05684-7ABE-E3ED-9C66-DE3E7A092C10}"/>
              </a:ext>
            </a:extLst>
          </p:cNvPr>
          <p:cNvSpPr txBox="1"/>
          <p:nvPr/>
        </p:nvSpPr>
        <p:spPr>
          <a:xfrm>
            <a:off x="669469" y="3089952"/>
            <a:ext cx="220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BE9CE0-0E22-8242-0422-B644C2EDDD4D}"/>
              </a:ext>
            </a:extLst>
          </p:cNvPr>
          <p:cNvSpPr txBox="1"/>
          <p:nvPr/>
        </p:nvSpPr>
        <p:spPr>
          <a:xfrm>
            <a:off x="809045" y="4536103"/>
            <a:ext cx="1925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PROCESSING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72D41C-177A-761D-841F-424324D61553}"/>
              </a:ext>
            </a:extLst>
          </p:cNvPr>
          <p:cNvSpPr txBox="1"/>
          <p:nvPr/>
        </p:nvSpPr>
        <p:spPr>
          <a:xfrm>
            <a:off x="930724" y="5922416"/>
            <a:ext cx="1681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VISUALISATION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E0DE00-D4ED-2626-E12E-F9CA8F519E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" t="2275" r="2483" b="2275"/>
          <a:stretch>
            <a:fillRect/>
          </a:stretch>
        </p:blipFill>
        <p:spPr>
          <a:xfrm>
            <a:off x="3420048" y="1485220"/>
            <a:ext cx="8600608" cy="5057094"/>
          </a:xfrm>
          <a:prstGeom prst="rect">
            <a:avLst/>
          </a:prstGeom>
          <a:ln w="28575">
            <a:solidFill>
              <a:srgbClr val="163A5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666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0650-9A69-17E6-AE68-B0369B23B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171" y="740228"/>
            <a:ext cx="4985657" cy="516392"/>
          </a:xfrm>
        </p:spPr>
        <p:txBody>
          <a:bodyPr>
            <a:noAutofit/>
          </a:bodyPr>
          <a:lstStyle/>
          <a:p>
            <a:r>
              <a:rPr lang="en-US" sz="3200" dirty="0"/>
              <a:t>Respondent Demographics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8DBB9-AA7E-3CD3-EDE7-740B15FD50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" t="1855" r="2683" b="4423"/>
          <a:stretch>
            <a:fillRect/>
          </a:stretch>
        </p:blipFill>
        <p:spPr>
          <a:xfrm>
            <a:off x="609598" y="1696756"/>
            <a:ext cx="5486401" cy="3464488"/>
          </a:xfrm>
          <a:prstGeom prst="rect">
            <a:avLst/>
          </a:prstGeom>
          <a:ln>
            <a:solidFill>
              <a:srgbClr val="163A5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BE485-4629-7E1E-803B-0FAF917122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" t="1839" b="-919"/>
          <a:stretch>
            <a:fillRect/>
          </a:stretch>
        </p:blipFill>
        <p:spPr>
          <a:xfrm>
            <a:off x="6596745" y="1696756"/>
            <a:ext cx="4985657" cy="3464488"/>
          </a:xfrm>
          <a:prstGeom prst="rect">
            <a:avLst/>
          </a:prstGeom>
          <a:ln>
            <a:solidFill>
              <a:srgbClr val="163A5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8F1E76-582A-A1D7-2F56-9945D63FE36E}"/>
              </a:ext>
            </a:extLst>
          </p:cNvPr>
          <p:cNvSpPr txBox="1"/>
          <p:nvPr/>
        </p:nvSpPr>
        <p:spPr>
          <a:xfrm>
            <a:off x="125730" y="5280661"/>
            <a:ext cx="12066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Total Responses: 66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• Students from multiple engineering disciplines participated.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• Representation across different academic years ensured diversity in the dataset.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• The sample provides a reliable basis for analyzing productivity and academic performance patterns.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• Insights are derived from self-reported student data. </a:t>
            </a:r>
          </a:p>
        </p:txBody>
      </p:sp>
    </p:spTree>
    <p:extLst>
      <p:ext uri="{BB962C8B-B14F-4D97-AF65-F5344CB8AC3E}">
        <p14:creationId xmlns:p14="http://schemas.microsoft.com/office/powerpoint/2010/main" val="219010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08C7-EE2C-19A0-92A5-92780195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3180" y="685799"/>
            <a:ext cx="7025640" cy="629603"/>
          </a:xfrm>
        </p:spPr>
        <p:txBody>
          <a:bodyPr>
            <a:normAutofit/>
          </a:bodyPr>
          <a:lstStyle/>
          <a:p>
            <a:r>
              <a:rPr lang="en-US" sz="3200" dirty="0"/>
              <a:t>Impact of Daily Habits on Productivity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376D3-D78E-C309-B432-B5B7CA9E2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781" y="1441984"/>
            <a:ext cx="3835133" cy="2448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A0252-0936-8C6B-E279-6FF31799F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084" y="1441984"/>
            <a:ext cx="3835135" cy="245004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A5DB07-F226-A9F9-7467-8C6662B8916A}"/>
              </a:ext>
            </a:extLst>
          </p:cNvPr>
          <p:cNvSpPr/>
          <p:nvPr/>
        </p:nvSpPr>
        <p:spPr>
          <a:xfrm>
            <a:off x="1974495" y="4114798"/>
            <a:ext cx="8243009" cy="2448863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39276-EE88-61E5-8F11-76F86E1B957D}"/>
              </a:ext>
            </a:extLst>
          </p:cNvPr>
          <p:cNvSpPr txBox="1"/>
          <p:nvPr/>
        </p:nvSpPr>
        <p:spPr>
          <a:xfrm>
            <a:off x="5341914" y="4157627"/>
            <a:ext cx="1508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C95D5F-7983-B764-D01E-C448DACF130E}"/>
              </a:ext>
            </a:extLst>
          </p:cNvPr>
          <p:cNvSpPr txBox="1"/>
          <p:nvPr/>
        </p:nvSpPr>
        <p:spPr>
          <a:xfrm>
            <a:off x="2367406" y="4600565"/>
            <a:ext cx="74961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sleeping 7–8 hours generally reported higher productivity levels.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Excessive screen time showed a negative relationship with productivity.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Healthy lifestyle habits appear to contribute positively to student productivity.</a:t>
            </a:r>
          </a:p>
        </p:txBody>
      </p:sp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E12D1BE1-282E-1410-6ABF-25D2CDE1C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8769" y="4600565"/>
            <a:ext cx="328637" cy="328637"/>
          </a:xfrm>
          <a:prstGeom prst="rect">
            <a:avLst/>
          </a:prstGeom>
        </p:spPr>
      </p:pic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83E9BE37-F950-FD7F-D0A1-6E1A82099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8769" y="5174910"/>
            <a:ext cx="328637" cy="328637"/>
          </a:xfrm>
          <a:prstGeom prst="rect">
            <a:avLst/>
          </a:prstGeom>
        </p:spPr>
      </p:pic>
      <p:pic>
        <p:nvPicPr>
          <p:cNvPr id="19" name="Graphic 18" descr="Heartbeat with solid fill">
            <a:extLst>
              <a:ext uri="{FF2B5EF4-FFF2-40B4-BE49-F238E27FC236}">
                <a16:creationId xmlns:a16="http://schemas.microsoft.com/office/drawing/2014/main" id="{F52FD272-6CEA-9381-E153-4DE0923406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8769" y="5704123"/>
            <a:ext cx="353943" cy="3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C7C6-3EEF-EE93-A2CB-E6C726C9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506F-AB35-10CA-6BB0-0A94E8872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3180" y="685799"/>
            <a:ext cx="7025640" cy="629603"/>
          </a:xfrm>
        </p:spPr>
        <p:txBody>
          <a:bodyPr>
            <a:normAutofit/>
          </a:bodyPr>
          <a:lstStyle/>
          <a:p>
            <a:r>
              <a:rPr lang="en-US" sz="3200" dirty="0"/>
              <a:t>Key Productivity Drivers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F770E8-CC5E-B18B-AD75-32D2A30E115C}"/>
              </a:ext>
            </a:extLst>
          </p:cNvPr>
          <p:cNvSpPr/>
          <p:nvPr/>
        </p:nvSpPr>
        <p:spPr>
          <a:xfrm>
            <a:off x="1974495" y="4114798"/>
            <a:ext cx="8243009" cy="2448863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E2450-383B-FACB-6491-5840BEA95110}"/>
              </a:ext>
            </a:extLst>
          </p:cNvPr>
          <p:cNvSpPr txBox="1"/>
          <p:nvPr/>
        </p:nvSpPr>
        <p:spPr>
          <a:xfrm>
            <a:off x="4510917" y="4153636"/>
            <a:ext cx="3170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Interpretation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59FC3-C3E4-57EC-9724-62B833A10AB6}"/>
              </a:ext>
            </a:extLst>
          </p:cNvPr>
          <p:cNvSpPr txBox="1"/>
          <p:nvPr/>
        </p:nvSpPr>
        <p:spPr>
          <a:xfrm>
            <a:off x="2367407" y="4600565"/>
            <a:ext cx="7721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study habits were associated with higher productivity scores.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stress levels corresponded with reduced productivity.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time management and stress management may improve student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90004-5E0E-9A38-B9CE-9DB1E2C26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t="1911" r="2259" b="291"/>
          <a:stretch>
            <a:fillRect/>
          </a:stretch>
        </p:blipFill>
        <p:spPr>
          <a:xfrm>
            <a:off x="1668780" y="1474150"/>
            <a:ext cx="3589020" cy="2394939"/>
          </a:xfrm>
          <a:prstGeom prst="rect">
            <a:avLst/>
          </a:prstGeom>
          <a:ln>
            <a:solidFill>
              <a:srgbClr val="163A5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17A4A1-E7A8-B55A-C607-D787A6D9C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" t="908" r="983"/>
          <a:stretch>
            <a:fillRect/>
          </a:stretch>
        </p:blipFill>
        <p:spPr>
          <a:xfrm>
            <a:off x="6909453" y="1449516"/>
            <a:ext cx="3698763" cy="2419574"/>
          </a:xfrm>
          <a:prstGeom prst="rect">
            <a:avLst/>
          </a:prstGeom>
          <a:ln>
            <a:solidFill>
              <a:srgbClr val="163A5F"/>
            </a:solidFill>
          </a:ln>
        </p:spPr>
      </p:pic>
      <p:pic>
        <p:nvPicPr>
          <p:cNvPr id="12" name="Graphic 11" descr="Books with solid fill">
            <a:extLst>
              <a:ext uri="{FF2B5EF4-FFF2-40B4-BE49-F238E27FC236}">
                <a16:creationId xmlns:a16="http://schemas.microsoft.com/office/drawing/2014/main" id="{7D977FEC-2073-A6CF-E8E7-27B095C28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911" y="4676028"/>
            <a:ext cx="264630" cy="264630"/>
          </a:xfrm>
          <a:prstGeom prst="rect">
            <a:avLst/>
          </a:prstGeom>
        </p:spPr>
      </p:pic>
      <p:pic>
        <p:nvPicPr>
          <p:cNvPr id="16" name="Graphic 15" descr="Brain in head with solid fill">
            <a:extLst>
              <a:ext uri="{FF2B5EF4-FFF2-40B4-BE49-F238E27FC236}">
                <a16:creationId xmlns:a16="http://schemas.microsoft.com/office/drawing/2014/main" id="{9A300852-CABA-719C-39E2-3AEC495FFB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911" y="5212639"/>
            <a:ext cx="264630" cy="264630"/>
          </a:xfrm>
          <a:prstGeom prst="rect">
            <a:avLst/>
          </a:prstGeom>
        </p:spPr>
      </p:pic>
      <p:pic>
        <p:nvPicPr>
          <p:cNvPr id="20" name="Graphic 19" descr="Bar graph with upward trend with solid fill">
            <a:extLst>
              <a:ext uri="{FF2B5EF4-FFF2-40B4-BE49-F238E27FC236}">
                <a16:creationId xmlns:a16="http://schemas.microsoft.com/office/drawing/2014/main" id="{0E14A41F-CA8E-1A7F-0AA6-BF3046D72D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4911" y="5749250"/>
            <a:ext cx="264630" cy="26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35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FCC7-898C-AC1B-FC24-DACC6C95E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4828" y="250372"/>
            <a:ext cx="5682344" cy="810305"/>
          </a:xfrm>
        </p:spPr>
        <p:txBody>
          <a:bodyPr>
            <a:normAutofit/>
          </a:bodyPr>
          <a:lstStyle/>
          <a:p>
            <a:r>
              <a:rPr lang="en-US" sz="3200" dirty="0"/>
              <a:t>Academic Performance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3953E-D2A6-812A-CF15-1C2CC172E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" t="1440" r="893" b="2132"/>
          <a:stretch>
            <a:fillRect/>
          </a:stretch>
        </p:blipFill>
        <p:spPr>
          <a:xfrm>
            <a:off x="1812376" y="1363087"/>
            <a:ext cx="2884903" cy="1907129"/>
          </a:xfrm>
          <a:prstGeom prst="rect">
            <a:avLst/>
          </a:prstGeom>
          <a:ln>
            <a:solidFill>
              <a:srgbClr val="163A5F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BB7F40-401F-A1FB-F057-A5E96F0E0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" t="3908" r="1102" b="1305"/>
          <a:stretch>
            <a:fillRect/>
          </a:stretch>
        </p:blipFill>
        <p:spPr>
          <a:xfrm>
            <a:off x="6814603" y="1232240"/>
            <a:ext cx="3565021" cy="2037976"/>
          </a:xfrm>
          <a:prstGeom prst="rect">
            <a:avLst/>
          </a:prstGeom>
          <a:ln>
            <a:solidFill>
              <a:srgbClr val="163A5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F8FCBB-1EED-2E22-428B-9144A978C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" r="1752" b="1521"/>
          <a:stretch>
            <a:fillRect/>
          </a:stretch>
        </p:blipFill>
        <p:spPr>
          <a:xfrm>
            <a:off x="6814603" y="4219985"/>
            <a:ext cx="3565021" cy="1701313"/>
          </a:xfrm>
          <a:prstGeom prst="rect">
            <a:avLst/>
          </a:prstGeom>
          <a:ln>
            <a:solidFill>
              <a:srgbClr val="163A5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35E96E-0B83-FB17-FE59-CCAD6B71A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" r="2302" b="1521"/>
          <a:stretch>
            <a:fillRect/>
          </a:stretch>
        </p:blipFill>
        <p:spPr>
          <a:xfrm>
            <a:off x="1812375" y="4219985"/>
            <a:ext cx="2884903" cy="1701312"/>
          </a:xfrm>
          <a:prstGeom prst="rect">
            <a:avLst/>
          </a:prstGeom>
          <a:ln>
            <a:solidFill>
              <a:srgbClr val="163A5F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852334-EB87-195B-AC4D-72356E2A1B10}"/>
              </a:ext>
            </a:extLst>
          </p:cNvPr>
          <p:cNvSpPr/>
          <p:nvPr/>
        </p:nvSpPr>
        <p:spPr>
          <a:xfrm>
            <a:off x="955551" y="3445218"/>
            <a:ext cx="4598547" cy="57559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B6819F-6936-672F-883E-0399B30A4D4C}"/>
              </a:ext>
            </a:extLst>
          </p:cNvPr>
          <p:cNvSpPr/>
          <p:nvPr/>
        </p:nvSpPr>
        <p:spPr>
          <a:xfrm>
            <a:off x="6222380" y="3441779"/>
            <a:ext cx="4621703" cy="580007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B1989-18C7-C30F-C65C-6D7DA5C66857}"/>
              </a:ext>
            </a:extLst>
          </p:cNvPr>
          <p:cNvSpPr txBox="1"/>
          <p:nvPr/>
        </p:nvSpPr>
        <p:spPr>
          <a:xfrm>
            <a:off x="1264334" y="3394894"/>
            <a:ext cx="437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academic attendance was associated with stronger academic performance.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800CADA-2EE4-FF92-035A-173814CFC6E9}"/>
              </a:ext>
            </a:extLst>
          </p:cNvPr>
          <p:cNvSpPr/>
          <p:nvPr/>
        </p:nvSpPr>
        <p:spPr>
          <a:xfrm>
            <a:off x="6222379" y="6027620"/>
            <a:ext cx="4621703" cy="580007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D8635A-6806-400D-732A-19B235ED2A8B}"/>
              </a:ext>
            </a:extLst>
          </p:cNvPr>
          <p:cNvSpPr/>
          <p:nvPr/>
        </p:nvSpPr>
        <p:spPr>
          <a:xfrm>
            <a:off x="955551" y="6027621"/>
            <a:ext cx="4621703" cy="580007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9029C1-9C73-CF60-8C91-B3BF2620D532}"/>
              </a:ext>
            </a:extLst>
          </p:cNvPr>
          <p:cNvSpPr txBox="1"/>
          <p:nvPr/>
        </p:nvSpPr>
        <p:spPr>
          <a:xfrm>
            <a:off x="6460476" y="3408616"/>
            <a:ext cx="4273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Productive students generally achieved higher CGPA scores.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7636E2-F040-5356-FD3F-56078E2B55A9}"/>
              </a:ext>
            </a:extLst>
          </p:cNvPr>
          <p:cNvSpPr txBox="1"/>
          <p:nvPr/>
        </p:nvSpPr>
        <p:spPr>
          <a:xfrm>
            <a:off x="1264334" y="5948291"/>
            <a:ext cx="4099403" cy="65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stress levels were linked to lower academic performance.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86307-7815-AF53-CA65-64696DA08EB7}"/>
              </a:ext>
            </a:extLst>
          </p:cNvPr>
          <p:cNvSpPr txBox="1"/>
          <p:nvPr/>
        </p:nvSpPr>
        <p:spPr>
          <a:xfrm>
            <a:off x="6460476" y="5948291"/>
            <a:ext cx="4273273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study habits contributed positively to CGPA.</a:t>
            </a:r>
          </a:p>
        </p:txBody>
      </p:sp>
    </p:spTree>
    <p:extLst>
      <p:ext uri="{BB962C8B-B14F-4D97-AF65-F5344CB8AC3E}">
        <p14:creationId xmlns:p14="http://schemas.microsoft.com/office/powerpoint/2010/main" val="145334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579D-5F9B-2B06-539D-DCB61238B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527" y="624468"/>
            <a:ext cx="6214946" cy="621797"/>
          </a:xfrm>
        </p:spPr>
        <p:txBody>
          <a:bodyPr>
            <a:normAutofit/>
          </a:bodyPr>
          <a:lstStyle/>
          <a:p>
            <a:r>
              <a:rPr lang="en-US" sz="3200" dirty="0"/>
              <a:t>Productivity and Academic Success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4F7CBA-BE6D-B460-F220-D2BF05F949DC}"/>
              </a:ext>
            </a:extLst>
          </p:cNvPr>
          <p:cNvSpPr/>
          <p:nvPr/>
        </p:nvSpPr>
        <p:spPr>
          <a:xfrm>
            <a:off x="791736" y="1773044"/>
            <a:ext cx="2011680" cy="11887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372AD9-CB0C-30FB-FA98-B7A9D8363967}"/>
              </a:ext>
            </a:extLst>
          </p:cNvPr>
          <p:cNvSpPr/>
          <p:nvPr/>
        </p:nvSpPr>
        <p:spPr>
          <a:xfrm>
            <a:off x="9388584" y="1773044"/>
            <a:ext cx="2011680" cy="11887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693D12-5587-2872-0784-CEFD95861964}"/>
              </a:ext>
            </a:extLst>
          </p:cNvPr>
          <p:cNvSpPr/>
          <p:nvPr/>
        </p:nvSpPr>
        <p:spPr>
          <a:xfrm>
            <a:off x="6533874" y="1773044"/>
            <a:ext cx="2011680" cy="11887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BBC9B0-AD35-B403-B8EC-D1D5BA328570}"/>
              </a:ext>
            </a:extLst>
          </p:cNvPr>
          <p:cNvSpPr/>
          <p:nvPr/>
        </p:nvSpPr>
        <p:spPr>
          <a:xfrm>
            <a:off x="3646448" y="1773044"/>
            <a:ext cx="2011680" cy="11887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6E48C084-71F6-5972-351B-06F2853BD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3483" y="1773044"/>
            <a:ext cx="628185" cy="628185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2216554F-95FF-E943-7B02-68052FA3D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389" y="1745607"/>
            <a:ext cx="621797" cy="621797"/>
          </a:xfrm>
          <a:prstGeom prst="rect">
            <a:avLst/>
          </a:prstGeom>
        </p:spPr>
      </p:pic>
      <p:pic>
        <p:nvPicPr>
          <p:cNvPr id="16" name="Graphic 15" descr="Closed book with solid fill">
            <a:extLst>
              <a:ext uri="{FF2B5EF4-FFF2-40B4-BE49-F238E27FC236}">
                <a16:creationId xmlns:a16="http://schemas.microsoft.com/office/drawing/2014/main" id="{C78ABCF2-9950-14C4-77DA-246D25E03F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114" y="1858536"/>
            <a:ext cx="457200" cy="457200"/>
          </a:xfrm>
          <a:prstGeom prst="rect">
            <a:avLst/>
          </a:prstGeom>
        </p:spPr>
      </p:pic>
      <p:pic>
        <p:nvPicPr>
          <p:cNvPr id="18" name="Graphic 17" descr="Brain in head with solid fill">
            <a:extLst>
              <a:ext uri="{FF2B5EF4-FFF2-40B4-BE49-F238E27FC236}">
                <a16:creationId xmlns:a16="http://schemas.microsoft.com/office/drawing/2014/main" id="{D96DBB94-C459-C40D-AF53-85287D7C6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6052" y="1828764"/>
            <a:ext cx="516743" cy="5167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A8FADE-948B-0806-23C6-72E267A8BDF0}"/>
              </a:ext>
            </a:extLst>
          </p:cNvPr>
          <p:cNvSpPr txBox="1"/>
          <p:nvPr/>
        </p:nvSpPr>
        <p:spPr>
          <a:xfrm>
            <a:off x="1369733" y="2315736"/>
            <a:ext cx="85568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84BC53-226C-142B-3D47-10EDA3C6F630}"/>
              </a:ext>
            </a:extLst>
          </p:cNvPr>
          <p:cNvSpPr txBox="1"/>
          <p:nvPr/>
        </p:nvSpPr>
        <p:spPr>
          <a:xfrm>
            <a:off x="4082932" y="2315736"/>
            <a:ext cx="113871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Sleep</a:t>
            </a:r>
          </a:p>
          <a:p>
            <a:pPr algn="just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BF8CA7-4C36-F51D-4D29-4099BAFFA3FE}"/>
              </a:ext>
            </a:extLst>
          </p:cNvPr>
          <p:cNvSpPr txBox="1"/>
          <p:nvPr/>
        </p:nvSpPr>
        <p:spPr>
          <a:xfrm>
            <a:off x="6742402" y="2315735"/>
            <a:ext cx="15946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Hours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886E8-E0D0-4A33-F47C-60A062CBDE39}"/>
              </a:ext>
            </a:extLst>
          </p:cNvPr>
          <p:cNvSpPr txBox="1"/>
          <p:nvPr/>
        </p:nvSpPr>
        <p:spPr>
          <a:xfrm>
            <a:off x="9793617" y="2315734"/>
            <a:ext cx="120161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Impact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7545B7-F91F-1BBA-4F92-EB5526A63FD7}"/>
              </a:ext>
            </a:extLst>
          </p:cNvPr>
          <p:cNvSpPr/>
          <p:nvPr/>
        </p:nvSpPr>
        <p:spPr>
          <a:xfrm>
            <a:off x="791736" y="3418257"/>
            <a:ext cx="10608528" cy="2904893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6DA894-16C4-28F1-3419-347AC188BB3C}"/>
              </a:ext>
            </a:extLst>
          </p:cNvPr>
          <p:cNvSpPr txBox="1"/>
          <p:nvPr/>
        </p:nvSpPr>
        <p:spPr>
          <a:xfrm>
            <a:off x="1369733" y="3716541"/>
            <a:ext cx="9664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indicates that productivity and academic performance are strongly influenced by sleep quality, study habits, attendance, screen time and stress management.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who maintained healthier habits generally demonstrated better productivity and academic outcomes.</a:t>
            </a:r>
          </a:p>
        </p:txBody>
      </p:sp>
    </p:spTree>
    <p:extLst>
      <p:ext uri="{BB962C8B-B14F-4D97-AF65-F5344CB8AC3E}">
        <p14:creationId xmlns:p14="http://schemas.microsoft.com/office/powerpoint/2010/main" val="98522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577C-A0F9-48D5-8101-289CC94F7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5995" y="657922"/>
            <a:ext cx="2680010" cy="588343"/>
          </a:xfrm>
        </p:spPr>
        <p:txBody>
          <a:bodyPr>
            <a:normAutofit/>
          </a:bodyPr>
          <a:lstStyle/>
          <a:p>
            <a:r>
              <a:rPr lang="en-US" sz="3200" dirty="0"/>
              <a:t>Key Insights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6DE27B-8C0F-AAA3-C49F-EB806C0F2C39}"/>
              </a:ext>
            </a:extLst>
          </p:cNvPr>
          <p:cNvSpPr/>
          <p:nvPr/>
        </p:nvSpPr>
        <p:spPr>
          <a:xfrm>
            <a:off x="1502227" y="1574073"/>
            <a:ext cx="1920240" cy="2011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568379-0DB2-702B-7A28-FE43AC0D2581}"/>
              </a:ext>
            </a:extLst>
          </p:cNvPr>
          <p:cNvSpPr/>
          <p:nvPr/>
        </p:nvSpPr>
        <p:spPr>
          <a:xfrm>
            <a:off x="7056120" y="4088672"/>
            <a:ext cx="1920240" cy="2011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34773C-704F-3656-DA08-A4B11DF58C01}"/>
              </a:ext>
            </a:extLst>
          </p:cNvPr>
          <p:cNvSpPr/>
          <p:nvPr/>
        </p:nvSpPr>
        <p:spPr>
          <a:xfrm>
            <a:off x="3215640" y="4088672"/>
            <a:ext cx="1920240" cy="2011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D3BFB2-5686-0C9C-E6E3-E3244305E805}"/>
              </a:ext>
            </a:extLst>
          </p:cNvPr>
          <p:cNvSpPr/>
          <p:nvPr/>
        </p:nvSpPr>
        <p:spPr>
          <a:xfrm>
            <a:off x="5135880" y="1623061"/>
            <a:ext cx="1920240" cy="2011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FF49B3-9562-CF8D-8FEF-3DA90A6CE21D}"/>
              </a:ext>
            </a:extLst>
          </p:cNvPr>
          <p:cNvSpPr/>
          <p:nvPr/>
        </p:nvSpPr>
        <p:spPr>
          <a:xfrm>
            <a:off x="8769533" y="1523026"/>
            <a:ext cx="1920240" cy="2011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 descr="Sleep with solid fill">
            <a:extLst>
              <a:ext uri="{FF2B5EF4-FFF2-40B4-BE49-F238E27FC236}">
                <a16:creationId xmlns:a16="http://schemas.microsoft.com/office/drawing/2014/main" id="{C8428676-C458-BBFE-6A96-579ABDB6C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2505" y="1602779"/>
            <a:ext cx="519684" cy="519684"/>
          </a:xfrm>
          <a:prstGeom prst="rect">
            <a:avLst/>
          </a:prstGeom>
        </p:spPr>
      </p:pic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3665C971-DE33-1F1B-DDC4-20C0B29CE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6385" y="1751668"/>
            <a:ext cx="359230" cy="359230"/>
          </a:xfrm>
          <a:prstGeom prst="rect">
            <a:avLst/>
          </a:prstGeom>
        </p:spPr>
      </p:pic>
      <p:pic>
        <p:nvPicPr>
          <p:cNvPr id="17" name="Graphic 16" descr="Books on shelf with solid fill">
            <a:extLst>
              <a:ext uri="{FF2B5EF4-FFF2-40B4-BE49-F238E27FC236}">
                <a16:creationId xmlns:a16="http://schemas.microsoft.com/office/drawing/2014/main" id="{D0451770-5679-B668-A37A-3EB7ADDEE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V="1">
            <a:off x="9540460" y="1679117"/>
            <a:ext cx="449035" cy="449035"/>
          </a:xfrm>
          <a:prstGeom prst="rect">
            <a:avLst/>
          </a:prstGeom>
        </p:spPr>
      </p:pic>
      <p:pic>
        <p:nvPicPr>
          <p:cNvPr id="19" name="Graphic 18" descr="Bullseye with solid fill">
            <a:extLst>
              <a:ext uri="{FF2B5EF4-FFF2-40B4-BE49-F238E27FC236}">
                <a16:creationId xmlns:a16="http://schemas.microsoft.com/office/drawing/2014/main" id="{415D1774-1D28-CC40-9473-49DDC81C4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783" y="4239496"/>
            <a:ext cx="393954" cy="393954"/>
          </a:xfrm>
          <a:prstGeom prst="rect">
            <a:avLst/>
          </a:prstGeom>
        </p:spPr>
      </p:pic>
      <p:pic>
        <p:nvPicPr>
          <p:cNvPr id="21" name="Graphic 20" descr="Sad face with solid fill with solid fill">
            <a:extLst>
              <a:ext uri="{FF2B5EF4-FFF2-40B4-BE49-F238E27FC236}">
                <a16:creationId xmlns:a16="http://schemas.microsoft.com/office/drawing/2014/main" id="{34B19583-7748-E484-628D-F9CEF2E25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4587" y="4239496"/>
            <a:ext cx="323304" cy="32330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BF31C0F-4A55-425E-95C4-849C59D4A70C}"/>
              </a:ext>
            </a:extLst>
          </p:cNvPr>
          <p:cNvSpPr txBox="1"/>
          <p:nvPr/>
        </p:nvSpPr>
        <p:spPr>
          <a:xfrm>
            <a:off x="5225136" y="2112601"/>
            <a:ext cx="1730830" cy="145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screen time was associated with lower productivity levels.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CB3B7-CAE4-C06E-3D38-DEC416D6AE03}"/>
              </a:ext>
            </a:extLst>
          </p:cNvPr>
          <p:cNvSpPr txBox="1"/>
          <p:nvPr/>
        </p:nvSpPr>
        <p:spPr>
          <a:xfrm>
            <a:off x="8991056" y="2053655"/>
            <a:ext cx="1541420" cy="145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study hours were associated with better outcomes.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079C4F-A97C-F717-29BA-B3825F5E95B1}"/>
              </a:ext>
            </a:extLst>
          </p:cNvPr>
          <p:cNvSpPr txBox="1"/>
          <p:nvPr/>
        </p:nvSpPr>
        <p:spPr>
          <a:xfrm>
            <a:off x="1502227" y="1973808"/>
            <a:ext cx="1920240" cy="145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sleep duration was associated with higher productivity levels.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7B645-5F26-D02D-3759-A535CC32746D}"/>
              </a:ext>
            </a:extLst>
          </p:cNvPr>
          <p:cNvSpPr txBox="1"/>
          <p:nvPr/>
        </p:nvSpPr>
        <p:spPr>
          <a:xfrm>
            <a:off x="3405050" y="4638973"/>
            <a:ext cx="154142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attendance was associated with better CGPA.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967D5D-2A18-8539-FD3E-961736178684}"/>
              </a:ext>
            </a:extLst>
          </p:cNvPr>
          <p:cNvSpPr txBox="1"/>
          <p:nvPr/>
        </p:nvSpPr>
        <p:spPr>
          <a:xfrm>
            <a:off x="7245529" y="4515642"/>
            <a:ext cx="1541420" cy="145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stress was associated with lower productivity and CGPA.</a:t>
            </a:r>
          </a:p>
        </p:txBody>
      </p:sp>
    </p:spTree>
    <p:extLst>
      <p:ext uri="{BB962C8B-B14F-4D97-AF65-F5344CB8AC3E}">
        <p14:creationId xmlns:p14="http://schemas.microsoft.com/office/powerpoint/2010/main" val="1995437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0106-F21C-5BDB-D7E9-099758422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828" y="326571"/>
            <a:ext cx="3396343" cy="734105"/>
          </a:xfrm>
        </p:spPr>
        <p:txBody>
          <a:bodyPr>
            <a:noAutofit/>
          </a:bodyPr>
          <a:lstStyle/>
          <a:p>
            <a:r>
              <a:rPr lang="en-US" sz="3200" dirty="0"/>
              <a:t>Recommendations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2F2313-B38A-25CB-6181-4B4FC24C1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6070698"/>
              </p:ext>
            </p:extLst>
          </p:nvPr>
        </p:nvGraphicFramePr>
        <p:xfrm>
          <a:off x="3256642" y="1175657"/>
          <a:ext cx="5865587" cy="3799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DF4B05-0ECE-59C8-2B69-9FF7873D012D}"/>
              </a:ext>
            </a:extLst>
          </p:cNvPr>
          <p:cNvSpPr txBox="1"/>
          <p:nvPr/>
        </p:nvSpPr>
        <p:spPr>
          <a:xfrm>
            <a:off x="1005734" y="5328400"/>
            <a:ext cx="10180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recommendations focus on improving productivity and academic outcomes through healthy habits, structured study routines and better stress management.</a:t>
            </a:r>
          </a:p>
        </p:txBody>
      </p:sp>
    </p:spTree>
    <p:extLst>
      <p:ext uri="{BB962C8B-B14F-4D97-AF65-F5344CB8AC3E}">
        <p14:creationId xmlns:p14="http://schemas.microsoft.com/office/powerpoint/2010/main" val="1559051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3B21-21C5-CDB3-2326-9CE4CBFCC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0984" y="376237"/>
            <a:ext cx="2950029" cy="777649"/>
          </a:xfrm>
        </p:spPr>
        <p:txBody>
          <a:bodyPr>
            <a:norm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882C94-60BC-9049-DD8D-09985A00BCAE}"/>
              </a:ext>
            </a:extLst>
          </p:cNvPr>
          <p:cNvSpPr/>
          <p:nvPr/>
        </p:nvSpPr>
        <p:spPr>
          <a:xfrm>
            <a:off x="1649184" y="1603492"/>
            <a:ext cx="8893631" cy="2754086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8C251-E027-53D3-3C65-058B4B96223E}"/>
              </a:ext>
            </a:extLst>
          </p:cNvPr>
          <p:cNvSpPr txBox="1"/>
          <p:nvPr/>
        </p:nvSpPr>
        <p:spPr>
          <a:xfrm>
            <a:off x="1992081" y="1964872"/>
            <a:ext cx="86487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study identified key behavioral and academic factors associated with student productivity and academic performance.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findings demonstrate that sleep quality, study habits, attendance, lower screen time and stress management all contribute to student success.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insights can support data-driven strategies to improve student outcomes.</a:t>
            </a:r>
          </a:p>
        </p:txBody>
      </p:sp>
      <p:pic>
        <p:nvPicPr>
          <p:cNvPr id="7" name="Graphic 6" descr="Research with solid fill">
            <a:extLst>
              <a:ext uri="{FF2B5EF4-FFF2-40B4-BE49-F238E27FC236}">
                <a16:creationId xmlns:a16="http://schemas.microsoft.com/office/drawing/2014/main" id="{1C9BF473-59DC-3BFA-F2F8-C6FB1D53985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971" y="4288971"/>
            <a:ext cx="2569029" cy="25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EA88-64AB-D915-AB94-492FC786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9743" y="2087675"/>
            <a:ext cx="4332514" cy="2682649"/>
          </a:xfrm>
        </p:spPr>
        <p:txBody>
          <a:bodyPr>
            <a:noAutofit/>
          </a:bodyPr>
          <a:lstStyle/>
          <a:p>
            <a:r>
              <a:rPr lang="en-US" sz="8800" dirty="0"/>
              <a:t>Thank You</a:t>
            </a:r>
          </a:p>
        </p:txBody>
      </p:sp>
      <p:pic>
        <p:nvPicPr>
          <p:cNvPr id="7" name="Graphic 6" descr="Teacher with solid fill">
            <a:extLst>
              <a:ext uri="{FF2B5EF4-FFF2-40B4-BE49-F238E27FC236}">
                <a16:creationId xmlns:a16="http://schemas.microsoft.com/office/drawing/2014/main" id="{C8B070A6-C7CF-901C-13D1-86A84E4BC53A}"/>
              </a:ext>
            </a:extLst>
          </p:cNvPr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363" y="0"/>
            <a:ext cx="11185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0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399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Project Overview</vt:lpstr>
      <vt:lpstr>Respondent Demographics</vt:lpstr>
      <vt:lpstr>Impact of Daily Habits on Productivity</vt:lpstr>
      <vt:lpstr>Key Productivity Drivers</vt:lpstr>
      <vt:lpstr>Academic Performance Analysis</vt:lpstr>
      <vt:lpstr>Productivity and Academic Success</vt:lpstr>
      <vt:lpstr>Key 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</cp:revision>
  <dcterms:created xsi:type="dcterms:W3CDTF">2026-06-15T17:06:07Z</dcterms:created>
  <dcterms:modified xsi:type="dcterms:W3CDTF">2026-06-17T07:25:18Z</dcterms:modified>
</cp:coreProperties>
</file>